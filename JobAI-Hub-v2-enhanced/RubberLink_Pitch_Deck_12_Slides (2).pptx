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1A3C2A"/>
                </a:solidFill>
                <a:latin typeface="TH Sarabun New"/>
                <a:ea typeface="TH Sarabun New"/>
                <a:cs typeface="TH Sarabun New"/>
              </a:defRPr>
            </a:pPr>
            <a:r>
              <a:rPr sz="1800" b="0" i="0" u="none" strike="noStrike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โครงสร้างต้นทุนต่อตัน (ค่ากลางของช่วง, 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สัดส่วนต่อราคาขาย (%)</c:v>
                </c:pt>
              </c:strCache>
            </c:strRef>
          </c:tx>
          <c:spPr>
            <a:solidFill>
              <a:srgbClr val="3E9B63"/>
            </a:solidFill>
            <a:effectLst/>
          </c:spPr>
          <c:invertIfNegative val="0"/>
          <c:dLbls>
            <c:numFmt formatCode="General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TH Sarabun New"/>
                    <a:ea typeface="TH Sarabun New"/>
                    <a:cs typeface="TH Sarabun New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วัตถุดิบ</c:v>
                </c:pt>
                <c:pt idx="1">
                  <c:v>แปรรูป</c:v>
                </c:pt>
                <c:pt idx="2">
                  <c:v>Compliance &amp; Tech</c:v>
                </c:pt>
                <c:pt idx="3">
                  <c:v>Gross Margin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12.5</c:v>
                </c:pt>
                <c:pt idx="2">
                  <c:v>2.5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TH Sarabun New"/>
                  <a:ea typeface="TH Sarabun New"/>
                  <a:cs typeface="TH Sarabun Ne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3685A"/>
                </a:solidFill>
                <a:latin typeface="TH Sarabun New"/>
                <a:ea typeface="TH Sarabun New"/>
                <a:cs typeface="TH Sarabun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53685A"/>
                </a:solidFill>
                <a:latin typeface="TH Sarabun New"/>
                <a:ea typeface="TH Sarabun New"/>
                <a:cs typeface="TH Sarabun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การใช้เงินทุน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3C2A"/>
              </a:solidFill>
              <a:effectLst/>
            </c:spPr>
          </c:dPt>
          <c:dPt>
            <c:idx val="1"/>
            <c:bubble3D val="0"/>
            <c:spPr>
              <a:solidFill>
                <a:srgbClr val="3E9B63"/>
              </a:solidFill>
              <a:effectLst/>
            </c:spPr>
          </c:dPt>
          <c:dPt>
            <c:idx val="2"/>
            <c:bubble3D val="0"/>
            <c:spPr>
              <a:solidFill>
                <a:srgbClr val="76C782"/>
              </a:solidFill>
              <a:effectLst/>
            </c:spPr>
          </c:dPt>
          <c:dPt>
            <c:idx val="3"/>
            <c:bubble3D val="0"/>
            <c:spPr>
              <a:solidFill>
                <a:srgbClr val="B9DF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A3C2A"/>
                      </a:solidFill>
                      <a:latin typeface="TH Sarabun New"/>
                      <a:ea typeface="TH Sarabun New"/>
                      <a:cs typeface="TH Sarabun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A3C2A"/>
                      </a:solidFill>
                      <a:latin typeface="TH Sarabun New"/>
                      <a:ea typeface="TH Sarabun New"/>
                      <a:cs typeface="TH Sarabun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A3C2A"/>
                      </a:solidFill>
                      <a:latin typeface="TH Sarabun New"/>
                      <a:ea typeface="TH Sarabun New"/>
                      <a:cs typeface="TH Sarabun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A3C2A"/>
                      </a:solidFill>
                      <a:latin typeface="TH Sarabun New"/>
                      <a:ea typeface="TH Sarabun New"/>
                      <a:cs typeface="TH Sarabun New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TH Sarabun New"/>
                    <a:ea typeface="TH Sarabun New"/>
                    <a:cs typeface="TH Sarabun New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Working Capital</c:v>
                </c:pt>
                <c:pt idx="1">
                  <c:v>EUDR Tech &amp; Automation</c:v>
                </c:pt>
                <c:pt idx="2">
                  <c:v>R&amp;D &amp; ISO</c:v>
                </c:pt>
                <c:pt idx="3">
                  <c:v>B2B Sales &amp; Marketing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สร้างความประทับใจแรกและบอกให้ได้ใน 10 วินาทีว่าบริษัททำอะไร ให้ใคร
สิ่งที่ต้องมี (Checklist ความครบถ้วน):
[ ] ชื่อบริษัท + โลโก้
[ ] Tagline 1 ประโยค (ทำอะไร ให้ใคร ได้ผลลัพธ์อะไร)
[ ] ชื่อผู้นำเสนอและตำแหน่ง
[ ] ชื่องาน / ผู้ฟัง และวันที่
[ ] รอบและจำนวนเงินที่ระดมทุน (ถ้ามี)
[ ] คำว่า 'เอกสารลับ' หากมีข้อมูลอ่อนไหว
วิธีเขียน / คำแนะนำ:
- Tagline ใช้สูตร: [ผลลัพธ์ที่วัดได้] สำหรับ [กลุ่มลูกค้า] ด้วย [วิธีการ]
- อย่าใส่ข้อความเกินกว่า 25 คำบนปก
- ถ้ามีลูกค้า/พันธมิตรที่มีชื่อเสียง อาจใส่บรรทัด 'Trusted by ...' สั้น ๆ
คำถามที่นักลงทุนมักถาม (เตรียมคำตอบไว้):
- บริษัทจดทะเบียนเมื่อไร ที่ไหน
- ทำไมถึงใช้ชื่อนี้
ข้อผิดพลาดที่พบบ่อย:
- Tagline คลุมเครือ เช่น 'นวัตกรรมเพื่ออนาคต'
- ใส่ศัพท์เทคนิคที่ผู้ฟังไม่เข้าใจ
เวลาพูดที่แนะนำ: 15–20 วินาที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ทำให้ผู้ฟังรู้สึกว่าปัญหานี้ 'ใหญ่ จริง และเจ็บ' และเป็นปัญหาที่คนยอมจ่ายเงินแก้
สิ่งที่ต้องมี (Checklist ความครบถ้วน):
[ ] ระบุลูกค้าเป้าหมายชัดเจน (ใคร อุตสาหกรรม ขนาด พื้นที่)
[ ] ปัญหาหลัก 1–3 ข้อ พร้อมตัวเลขความรุนแรง
[ ] ผลกระทบเป็นตัวเงินหรือเวลา
[ ] วิธีแก้ปัจจุบันและทำไมยังไม่ดีพอ
[ ] หลักฐาน: แหล่งข้อมูล / ผลสัมภาษณ์ลูกค้า / quote จริง
วิธีเขียน / คำแนะนำ:
- เล่าเป็นเรื่องของลูกค้าจริง 1 ราย แล้วขยายเป็นตัวเลขภาพรวม
- ตัวเลขทุกตัวต้องมีแหล่งอ้างอิง
- ปัญหาต้องเชื่อมกับสไลด์โซลูชันแบบ 1:1
คำถามที่นักลงทุนมักถาม (เตรียมคำตอบไว้):
- คุณคุยกับลูกค้ามาแล้วกี่ราย
- ลูกค้ายอมจ่ายเพื่อแก้ปัญหานี้แค่ไหน
- ทำไมปัญหานี้ยังไม่มีใครแก้ได้
ข้อผิดพลาดที่พบบ่อย:
- บรรยายปัญหากว้างเกินไป เช่น 'อุตสาหกรรมยังไม่ digital'
- ใช้ตัวเลขไม่มีแหล่งที่มา
- พูดถึงโซลูชันของตัวเองในสไลด์นี้
เวลาพูดที่แนะนำ: 1–1.5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แสดงว่าโซลูชันแก้ปัญหาในสไลด์ที่ 2 ได้ตรงจุด และดีกว่าทางเลือกเดิมอย่างชัดเจน
สิ่งที่ต้องมี (Checklist ความครบถ้วน):
[ ] Value proposition 1 ประโยค
[ ] ฟีเจอร์หลัก 3 ข้อที่ map กับปัญหาแต่ละข้อ
[ ] ภาพผลิตภัณฑ์ / Demo / Screenshot
[ ] ผลลัพธ์ที่วัดได้ (Before/After)
[ ] ความพร้อมของผลิตภัณฑ์ (MVP / Beta / Production)
[ ] เทคโนโลยีหรือ IP ที่โดดเด่น (ถ้ามี)
วิธีเขียน / คำแนะนำ:
- พูดถึง 'ประโยชน์' ก่อน 'เทคโนโลยี'
- Demo สั้นไม่เกิน 30–60 วินาที
- ถ้ามีสิทธิบัตรหรืออัลกอริทึมเฉพาะ ระบุสั้น ๆ
คำถามที่นักลงทุนมักถาม (เตรียมคำตอบไว้):
- ผลิตภัณฑ์พร้อมใช้งานจริงแล้วหรือยัง
- ความแม่นยำวัดอย่างไร
- ลูกค้าต้องเปลี่ยนวิธีทำงานมากแค่ไหน
ข้อผิดพลาดที่พบบ่อย:
- อธิบาย architecture ละเอียดเกินไป
- ใส่ฟีเจอร์มากกว่า 3–5 ข้อ
- อ้างผลลัพธ์โดยไม่มีข้อมูลจริงรองรับ
เวลาพูดที่แนะนำ: 1.5–2 นาที (รวม Demo)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พิสูจน์ว่าตลาดใหญ่พอให้บริษัทเติบโตเป็นธุรกิจที่คุ้มค่ากับการลงทุน
สิ่งที่ต้องมี (Checklist ความครบถ้วน):
[ ] TAM / SAM / SOM พร้อมตัวเลขและหน่วย (บาท/ปี)
[ ] วิธีคำนวณ (แนะนำ Bottom-up: จำนวนลูกค้า × ราคา)
[ ] แหล่งข้อมูลอ้างอิงและปีของข้อมูล
[ ] อัตราการเติบโตของตลาด (CAGR) ถ้ามี
[ ] เหตุผล Why Now – ทำไมโอกาสเปิดตอนนี้
วิธีเขียน / คำแนะนำ:
- นักลงทุนเชื่อ Bottom-up มากกว่าการอ้างรายงาน Top-down ตัวเลขใหญ่
- SOM ต้องสอดคล้องกับประมาณการรายได้ในสไลด์การเงิน
- ระบุตลาดต่างประเทศเป็นโอกาสต่อยอดแยกออกมา
คำถามที่นักลงทุนมักถาม (เตรียมคำตอบไว้):
- ตัวเลข SOM คิดจากอะไร สมเหตุสมผลไหม
- ตลาดโตปีละเท่าไร
- ขยายไปต่างประเทศได้หรือไม่
ข้อผิดพลาดที่พบบ่อย:
- ใช้ TAM ระดับโลกที่ใหญ่เกินจริง
- ไม่ระบุแหล่งที่มา
- SOM ไม่ตรงกับแผนการเงิน
เวลาพูดที่แนะนำ: 1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อธิบายว่าบริษัทหาเงินอย่างไร ใครจ่าย จ่ายเท่าไร และทำกำไรต่อหน่วยได้หรือไม่
สิ่งที่ต้องมี (Checklist ความครบถ้วน):
[ ] ใครเป็นผู้จ่ายเงิน (ผู้ใช้ vs ผู้ซื้อ)
[ ] รูปแบบรายได้ (Subscription / Transaction / License / Project)
[ ] โครงสร้างราคาและแพ็กเกจ
[ ] สัดส่วนแหล่งรายได้
[ ] Unit Economics: ARPA, Gross Margin, CAC, LTV, LTV:CAC, Payback
[ ] สมมติฐานที่ใช้คำนวณ (Churn, ระยะเวลาใช้งาน)
วิธีเขียน / คำแนะนำ:
- LTV:CAC ควรมากกว่า 3 เท่า และ Payback ไม่เกิน 12–18 เดือน
- ถ้ายังไม่มีข้อมูลจริง ให้ระบุว่าเป็น 'ประมาณการ' และอธิบายสมมติฐานใน Speaker Notes
- สำหรับ Software House อาจแสดงสัดส่วน Recurring vs Project-based
คำถามที่นักลงทุนมักถาม (เตรียมคำตอบไว้):
- ทำไมตั้งราคานี้ เทียบกับคู่แข่งอย่างไร
- Gross Margin จะดีขึ้นเมื่อ scale ไหม
- ลูกค้ายกเลิกบ่อยแค่ไหน
ข้อผิดพลาดที่พบบ่อย:
- มีโมเดลรายได้หลายแบบจนไม่มีจุดโฟกัส
- ไม่แสดงต้นทุนต่อหน่วย
- ตัวเลขไม่ตรงกับสไลด์การเงิน
เวลาพูดที่แนะนำ: 1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แสดงแผนที่ชัดเจนว่าจะหาลูกค้ากลุ่มแรกและขยายอย่างไร ด้วยต้นทุนที่สมเหตุสมผล
สิ่งที่ต้องมี (Checklist ความครบถ้วน):
[ ] ลูกค้ากลุ่มแรก (Beachhead / ICP) ที่เฉพาะเจาะจง
[ ] แผนเป็นระยะพร้อมกรอบเวลาและเป้าหมายตัวเลข
[ ] ช่องทางการขาย/การตลาดหลัก
[ ] Sales funnel หรือ Conversion rate
[ ] พันธมิตรทางธุรกิจ (ถ้ามี)
[ ] รอบการขาย (Sales cycle) และผู้ตัดสินใจซื้อ
วิธีเขียน / คำแนะนำ:
- ยิ่งเฉพาะเจาะจงยิ่งน่าเชื่อถือ – 'SME ทั้งหมด' ไม่ใช่กลยุทธ์
- ใช้ตัวเลขจาก traction จริงมาประกอบ conversion rate
- เป้าหมายแต่ละระยะต้องตรงกับประมาณการการเงิน
คำถามที่นักลงทุนมักถาม (เตรียมคำตอบไว้):
- รอบการขายใช้เวลากี่เดือน
- ใครเป็นผู้ตัดสินใจซื้อในโรงงาน
- ช่องทางไหนให้ CAC ต่ำที่สุด
ข้อผิดพลาดที่พบบ่อย:
- ลิสต์ช่องทางการตลาดทุกช่องทางโดยไม่จัดลำดับ
- ไม่มีตัวเลขเป้าหมาย
- แผนต่างประเทศเร็วเกินไปก่อนพิสูจน์ตลาดแรก
เวลาพูดที่แนะนำ: 1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พิสูจน์ด้วยข้อมูลจริงว่าตลาดต้องการผลิตภัณฑ์ และทีมทำงานได้ตามแผน
สิ่งที่ต้องมี (Checklist ความครบถ้วน):
[ ] KPI หลัก 3–4 ตัวที่สำคัญที่สุดต่อธุรกิจ (เช่น MRR, ลูกค้า, Retention, Churn)
[ ] กราฟแนวโน้มการเติบโตตามเวลา
[ ] อัตราการเติบโต (MoM / YoY)
[ ] Milestones สำคัญที่บรรลุแล้ว พร้อมเวลา
[ ] หลักฐานเชิงคุณภาพ: ลูกค้าชื่อดัง, LOI, MOU, รางวัล, ทุนวิจัย
วิธีเขียน / คำแนะนำ:
- ถ้ายังไม่มีรายได้ ใช้ Pilot, LOI, Waitlist หรือ Engagement metrics แทน
- แสดงกราฟแบบ 'ขึ้นขวา' พร้อมแกนที่ซื่อตรง (ไม่ตัดแกน)
- ระบุช่วงเวลาและนิยามของ KPI ให้ชัด
คำถามที่นักลงทุนมักถาม (เตรียมคำตอบไว้):
- ลูกค้าที่จ่ายเงินมาจากช่องทางไหน
- ลูกค้ารายใหญ่สุดคิดเป็นกี่ % ของรายได้
- Retention ของ cohort แรกเป็นอย่างไร
ข้อผิดพลาดที่พบบ่อย:
- Vanity metrics เช่น ยอดดาวน์โหลด/ยอดไลก์
- แสดงตัวเลขสะสม (Cumulative) เพื่อซ่อนการเติบโตที่ชะลอ
- ไม่มีวันที่กำกับข้อมูล
เวลาพูดที่แนะนำ: 1–1.5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แสดงว่าเข้าใจภูมิทัศน์การแข่งขัน และมีจุดต่างที่คู่แข่งลอกได้ยาก
สิ่งที่ต้องมี (Checklist ความครบถ้วน):
[ ] คู่แข่งทางตรง ทางอ้อม และ 'วิธีเดิม' ที่ลูกค้าใช้อยู่
[ ] ตารางเปรียบเทียบตามเกณฑ์ที่ลูกค้าให้ความสำคัญ
[ ] Positioning map 2 แกน
[ ] จุดแข็ง / ความได้เปรียบที่ยั่งยืน (Moat): ข้อมูล, IP, Network effect, ต้นทุน, ความสัมพันธ์
[ ] แหล่งข้อมูลของคู่แข่ง (เว็บไซต์ ราคา ณ วันที่)
วิธีเขียน / คำแนะนำ:
- อย่าบอกว่า 'ไม่มีคู่แข่ง' – นักลงทุนจะมองว่าไม่เข้าใจตลาดหรือไม่มีตลาด
- เลือกเกณฑ์ที่ลูกค้าตัดสินใจจริง ไม่ใช่เกณฑ์ที่เราชนะเท่านั้น
- ยอมรับจุดที่คู่แข่งแข็งกว่าอย่างตรงไปตรงมา
คำถามที่นักลงทุนมักถาม (เตรียมคำตอบไว้):
- ถ้าบริษัทใหญ่ลงมาทำตลาดนี้ คุณจะรับมืออย่างไร
- อะไรทำให้ลูกค้าเปลี่ยนจากเจ้าเดิมมาใช้คุณ
- คู่แข่งระดมทุนไปแล้วเท่าไร
ข้อผิดพลาดที่พบบ่อย:
- บอกว่าไม่มีคู่แข่ง
- ตาราง ✓ ทุกช่องฝั่งเราแบบไม่น่าเชื่อ
- ข้อมูลคู่แข่งล้าสมัย
เวลาพูดที่แนะนำ: 1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แสดงเส้นทางการเงินที่สมเหตุสมผลจากปัจจุบันไปสู่การทำกำไร และสอดคล้องกับทุกสไลด์ก่อนหน้า
สิ่งที่ต้องมี (Checklist ความครบถ้วน):
[ ] ผลประกอบการจริงย้อนหลัง (ถ้ามี) แยกจากประมาณการ
[ ] ประมาณการ 3–5 ปี: รายได้, Gross Margin, EBITDA/กำไรสุทธิ
[ ] จำนวนลูกค้าหรือหน่วยขายที่เป็น driver ของรายได้
[ ] Burn rate, Runway และจุดคุ้มทุน (Break-even)
[ ] สมมติฐานหลักที่ใช้ในการประมาณการ
[ ] ไฟล์ Financial Model ฉบับเต็มเตรียมไว้ในภาคผนวก / Data room
วิธีเขียน / คำแนะนำ:
- ตัวเลขต้องสอดคล้องกับ SOM (สไลด์ 4), ราคา (สไลด์ 5) และเป้าลูกค้า (สไลด์ 6)
- แยก 'จริง' กับ 'ประมาณการ' ให้เห็นชัด
- เตรียม Scenario: Base / Best / Worst case
คำถามที่นักลงทุนมักถาม (เตรียมคำตอบไว้):
- สมมติฐานไหนอ่อนไหวที่สุด ถ้าพลาดจะกระทบเท่าไร
- ต้องระดมทุนรอบถัดไปเมื่อไร
- ปัจจุบันมีเงินสดเหลือเท่าไร
ข้อผิดพลาดที่พบบ่อย:
- Hockey stick ที่ไม่มีเหตุผลรองรับ
- ใส่ตาราง P&amp;L ละเอียดเต็มหน้า
- ตัวเลขขัดแย้งกับสไลด์อื่น
เวลาพูดที่แนะนำ: 1–1.5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ทำให้นักลงทุนเชื่อว่าทีมนี้คือทีมที่ 'เหมาะสมที่สุด' ในการแก้ปัญหานี้และลงมือทำได้จริง
สิ่งที่ต้องมี (Checklist ความครบถ้วน):
[ ] ผู้ก่อตั้งและผู้บริหารหลัก: ชื่อ รูป ตำแหน่ง
[ ] ประสบการณ์ที่เกี่ยวข้องโดยตรงกับปัญหา (Founder-Market Fit)
[ ] ความครบของทักษะ: ธุรกิจ / เทคนิค / ขาย
[ ] ที่ปรึกษาหรือคณะกรรมการ (ถ้ามี)
[ ] จำนวนพนักงานปัจจุบัน และตำแหน่งที่จะจ้างเพิ่ม
[ ] ความทุ่มเท: ทำงานเต็มเวลาหรือไม่, สัดส่วนหุ้นผู้ก่อตั้ง
วิธีเขียน / คำแนะนำ:
- ใช้ 1 บรรทัดที่ทรงพลังที่สุดต่อคน แทนการลิสต์ประวัติทั้งหมด
- ใส่โลโก้บริษัท/มหาวิทยาลัยเดิมช่วยสร้างความน่าเชื่อถือ
- ถ้ามีช่องว่างในทีม ให้บอกแผนอุดช่องว่างเอง
คำถามที่นักลงทุนมักถาม (เตรียมคำตอบไว้):
- ผู้ก่อตั้งรู้จักกันมานานแค่ไหน เคยทำงานด้วยกันไหม
- ใครเป็นผู้ตัดสินใจสุดท้าย
- ทุกคนทำงานเต็มเวลาหรือไม่
ข้อผิดพลาดที่พบบ่อย:
- ใส่คนที่ไม่ได้มีบทบาทจริง
- ประวัติยาวแต่ไม่เกี่ยวกับธุรกิจ
- ไม่ระบุช่องว่างในทีม
เวลาพูดที่แนะนำ: 1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บอกให้ชัดว่าต้องการอะไร เท่าไร ใช้ทำอะไร และนักลงทุนจะได้เห็นผลลัพธ์อะไร (สไลด์นี้ใช้ 'ถ้ามี' – ถ้าไม่ได้ระดมทุน ให้เปลี่ยนเป็น 'สิ่งที่ต้องการ' เช่น ลูกค้านำร่อง พันธมิตร หรือการสนับสนุน)
สิ่งที่ต้องมี (Checklist ความครบถ้วน):
[ ] จำนวนเงินที่ต้องการ และรอบการลงทุน
[ ] รูปแบบการลงทุน (Equity / Convertible / SAFE) และมูลค่าบริษัท (ถ้าเปิดเผย)
[ ] การใช้เงินทุนเป็นสัดส่วน %
[ ] Milestones ที่จะบรรลุด้วยเงินก้อนนี้ และกรอบเวลา (Runway)
[ ] เงินที่มีผู้ยืนยันแล้ว (Committed) และนักลงทุนที่ร่วมรอบ
[ ] สิ่งที่ต้องการนอกจากเงิน (Smart money: เครือข่าย ลูกค้า ความเชี่ยวชาญ)
วิธีเขียน / คำแนะนำ:
- Milestones ควรเป็นสิ่งที่ทำให้มูลค่าบริษัทเพิ่มขึ้นสำหรับรอบถัดไป
- Use of funds ต้องสอดคล้องกับแผน GTM และการจ้างงาน
- ระบุจำนวนเงินเดียว ไม่ใช่ช่วงกว้าง ๆ
คำถามที่นักลงทุนมักถาม (เตรียมคำตอบไว้):
- ทำไมต้องเป็นจำนวนนี้
- ถ้าได้เงินแค่ครึ่งหนึ่งจะทำอย่างไร
- Exit strategy คืออะไร
ข้อผิดพลาดที่พบบ่อย:
- ไม่บอกจำนวนเงินชัดเจน
- Use of funds กว้างเกินไป เช่น 'ขยายธุรกิจ 100%'
- ตั้ง valuation โดยไม่มีเหตุผลรองรับ
เวลาพูดที่แนะนำ: 1 นาที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วัตถุประสงค์ของสไลด์: ทิ้งท้ายด้วยข้อความหลักที่ผู้ฟังต้องจำได้ และทำให้ติดต่อขั้นต่อไปได้ง่ายที่สุด
สิ่งที่ต้องมี (Checklist ความครบถ้วน):
[ ] สรุปจุดเด่น 3 ข้อ (ปัญหา/ตลาด, Traction, ทีม/แผน)
[ ] ทวน The Ask สั้น ๆ
[ ] Call to action ที่ชัดเจน
[ ] ชื่อผู้ติดต่อ ตำแหน่ง เบอร์โทร อีเมล เว็บไซต์ LINE
[ ] QR Code ไปยัง Deck / Demo / Data room
วิธีเขียน / คำแนะนำ:
- สไลด์นี้มักค้างบนจอระหว่าง Q&amp;A – ใส่ข้อมูลที่อยากให้เห็นนานที่สุด
- ข้อความสรุปควรนำมาจาก key message ของสไลด์ 2, 7 และ 11
- เตรียมภาคผนวก (Appendix) สำหรับตอบคำถามเชิงลึก
คำถามที่นักลงทุนมักถาม (เตรียมคำตอบไว้):
- ขั้นตอนถัดไปคืออะไร
- มี Data room / เอกสารเพิ่มเติมไหม
ข้อผิดพลาดที่พบบ่อย:
- จบด้วยคำว่า 'Q&amp;A' อย่างเดียวโดยไม่มีข้อมูลติดต่อ
- ใส่ข้อมูลใหม่ที่ไม่ได้พูดถึงมาก่อน
เวลาพูดที่แนะนำ: 30 วินาที + Q&amp;A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หัวข้อสไลด์</a:t>
            </a: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799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RubberLink  |  Pitch Deck  |  เอกสารลับ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4008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FBFDF9"/>
          </a:solidFill>
          <a:ln w="15875">
            <a:solidFill>
              <a:srgbClr val="A3B6A8"/>
            </a:solidFill>
            <a:prstDash val="dash"/>
          </a:ln>
        </p:spPr>
      </p:sp>
      <p:sp>
        <p:nvSpPr>
          <p:cNvPr id="3" name="Text 1"/>
          <p:cNvSpPr txBox="1"/>
          <p:nvPr/>
        </p:nvSpPr>
        <p:spPr>
          <a:xfrm>
            <a:off x="731520" y="6400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7B8F8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โลโก้ RubberLink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7200"/>
              </a:lnSpc>
              <a:buNone/>
            </a:pPr>
            <a:r>
              <a:rPr lang="en-US" sz="6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RubberLink</a:t>
            </a:r>
            <a:endParaRPr lang="en-US" sz="6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328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D3E2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นวัตกรรมห่วงโซ่อุปทานยางพาราเพื่อความยั่งยืน</a:t>
            </a:r>
            <a:endParaRPr lang="en-US" sz="27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700" dirty="0">
                <a:solidFill>
                  <a:srgbClr val="D3E2D6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และการส่งออกตามมาตรฐาน EUDR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9DB0A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ผู้นำเสนอ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[ชื่อ-นามสกุล], CEO &amp; Co-founder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074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9DB0A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หัวข้อ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แผนธุรกิจนวัตกรรมยางพาราเพื่อตลาดโลก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5486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9DB0A2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การระดมทุน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377440" y="5486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Seed Round ฿15 ล้าน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092440" y="10972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5C4033"/>
          </a:solidFill>
          <a:ln w="12700">
            <a:solidFill>
              <a:srgbClr val="5C40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92440" y="109728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หน้าปก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92440" y="233172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233172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ปัญหา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92440" y="356616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92440" y="356616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โซลูชัน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092440" y="480060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76C782"/>
          </a:solidFill>
          <a:ln w="12700">
            <a:solidFill>
              <a:srgbClr val="76C78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92440" y="480060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โอกาสตลาด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9372600" y="10972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76C782"/>
          </a:solidFill>
          <a:ln w="12700">
            <a:solidFill>
              <a:srgbClr val="76C78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72600" y="109728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โมเดลธุรกิจ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372600" y="233172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76C782"/>
          </a:solidFill>
          <a:ln w="12700">
            <a:solidFill>
              <a:srgbClr val="76C78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72600" y="233172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กลยุทธ์ตลาด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372600" y="356616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72600" y="356616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ความคืบหน้า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372600" y="480060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72600" y="480060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คู่แข่ง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0652760" y="109728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6FBF7F"/>
          </a:solidFill>
          <a:ln w="12700">
            <a:solidFill>
              <a:srgbClr val="6FBF7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652760" y="109728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การเงิน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652760" y="233172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A9D9B1"/>
          </a:solidFill>
          <a:ln w="12700">
            <a:solidFill>
              <a:srgbClr val="A9D9B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652760" y="233172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ทีมงาน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0652760" y="356616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8B6B4F"/>
          </a:solidFill>
          <a:ln w="12700">
            <a:solidFill>
              <a:srgbClr val="8B6B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652760" y="356616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คำขอระดมทุน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0652760" y="4800600"/>
            <a:ext cx="1143000" cy="1097280"/>
          </a:xfrm>
          <a:prstGeom prst="roundRect">
            <a:avLst>
              <a:gd name="adj" fmla="val 8333"/>
            </a:avLst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652760" y="480060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2F7D4A"/>
          </a:solidFill>
          <a:ln w="12700">
            <a:solidFill>
              <a:srgbClr val="2F7D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ปัญหา (Problem)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ราคาผันผวน กฎ EUDR/ESG เข้มงวด และต้นทุนแปรรูปสูง กดดันทั้งโรงงานและผู้ส่งออก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3291840" cy="4434840"/>
          </a:xfrm>
          <a:prstGeom prst="roundRect">
            <a:avLst>
              <a:gd name="adj" fmla="val 2222"/>
            </a:avLst>
          </a:prstGeom>
          <a:solidFill>
            <a:srgbClr val="EFE6DD"/>
          </a:solidFill>
          <a:ln w="12700">
            <a:solidFill>
              <a:srgbClr val="EFE6D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22960" y="2514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ใครเจอปัญหา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926080"/>
            <a:ext cx="2834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โรงงานผลิตยางรถยนต์ โรงงานอุปกรณ์การแพทย์ (ถุงมือยาง) ทั้งในและต่างประเทศ และบริษัทผู้ส่งออก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062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ผลกระทบต่อธุรกิจ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61772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ต้นทุน กำไร และยอดขายคาดการณ์ยาก และส่งออกไม่ได้หากไม่มีระบบตรวจสอบย้อนกลับ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4160520" y="1600200"/>
            <a:ext cx="2286000" cy="3337560"/>
          </a:xfrm>
          <a:prstGeom prst="roundRect">
            <a:avLst>
              <a:gd name="adj" fmla="val 3200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828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43484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4100" b="1" dirty="0">
                <a:solidFill>
                  <a:srgbClr val="2F7D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ราคา</a:t>
            </a:r>
            <a:endParaRPr lang="en-US" sz="4100" dirty="0"/>
          </a:p>
        </p:txBody>
      </p:sp>
      <p:sp>
        <p:nvSpPr>
          <p:cNvPr id="17" name="Text 13"/>
          <p:cNvSpPr txBox="1"/>
          <p:nvPr/>
        </p:nvSpPr>
        <p:spPr>
          <a:xfrm>
            <a:off x="4434840" y="32004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ราคายางดิบผันผวนตามตลาดโลก บริหารต้นทุน กำไร และยอดขายได้ยาก</a:t>
            </a:r>
            <a:endParaRPr lang="en-US" sz="1900" dirty="0"/>
          </a:p>
        </p:txBody>
      </p:sp>
      <p:sp>
        <p:nvSpPr>
          <p:cNvPr id="18" name="Shape 14"/>
          <p:cNvSpPr/>
          <p:nvPr/>
        </p:nvSpPr>
        <p:spPr>
          <a:xfrm>
            <a:off x="6675120" y="1600200"/>
            <a:ext cx="2286000" cy="3337560"/>
          </a:xfrm>
          <a:prstGeom prst="roundRect">
            <a:avLst>
              <a:gd name="adj" fmla="val 3200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8288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4944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4100" b="1" dirty="0">
                <a:solidFill>
                  <a:srgbClr val="2F7D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EUDR</a:t>
            </a:r>
            <a:endParaRPr lang="en-US" sz="4100" dirty="0"/>
          </a:p>
        </p:txBody>
      </p:sp>
      <p:sp>
        <p:nvSpPr>
          <p:cNvPr id="21" name="Text 16"/>
          <p:cNvSpPr txBox="1"/>
          <p:nvPr/>
        </p:nvSpPr>
        <p:spPr>
          <a:xfrm>
            <a:off x="6949440" y="32004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ยุโรป/สหรัฐฯ เข้มงวดเรื่องคาร์บอนและตัดไม้ทำลายป่า ไม่มีระบบตรวจสอบย้อนกลับ = ส่งออกไม่ได้</a:t>
            </a:r>
            <a:endParaRPr lang="en-US" sz="1900" dirty="0"/>
          </a:p>
        </p:txBody>
      </p:sp>
      <p:sp>
        <p:nvSpPr>
          <p:cNvPr id="22" name="Shape 17"/>
          <p:cNvSpPr/>
          <p:nvPr/>
        </p:nvSpPr>
        <p:spPr>
          <a:xfrm>
            <a:off x="9189720" y="1600200"/>
            <a:ext cx="2286000" cy="3337560"/>
          </a:xfrm>
          <a:prstGeom prst="roundRect">
            <a:avLst>
              <a:gd name="adj" fmla="val 3200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182880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464040" y="24231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00"/>
              </a:lnSpc>
              <a:buNone/>
            </a:pPr>
            <a:r>
              <a:rPr lang="en-US" sz="4100" b="1" dirty="0">
                <a:solidFill>
                  <a:srgbClr val="2F7D4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ต้นทุน</a:t>
            </a:r>
            <a:endParaRPr lang="en-US" sz="4100" dirty="0"/>
          </a:p>
        </p:txBody>
      </p:sp>
      <p:sp>
        <p:nvSpPr>
          <p:cNvPr id="25" name="Text 19"/>
          <p:cNvSpPr txBox="1"/>
          <p:nvPr/>
        </p:nvSpPr>
        <p:spPr>
          <a:xfrm>
            <a:off x="9464040" y="3200400"/>
            <a:ext cx="1828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แปรรูปขั้นต้นพึ่งแรงงานคน และมีต้นทุนจัดการกลิ่น/น้ำเสียในโรงงานสูง</a:t>
            </a:r>
            <a:endParaRPr lang="en-US" sz="1900" dirty="0"/>
          </a:p>
        </p:txBody>
      </p:sp>
      <p:sp>
        <p:nvSpPr>
          <p:cNvPr id="26" name="Shape 20"/>
          <p:cNvSpPr/>
          <p:nvPr/>
        </p:nvSpPr>
        <p:spPr>
          <a:xfrm>
            <a:off x="4160520" y="5120640"/>
            <a:ext cx="7315200" cy="914400"/>
          </a:xfrm>
          <a:prstGeom prst="roundRect">
            <a:avLst>
              <a:gd name="adj" fmla="val 8000"/>
            </a:avLst>
          </a:prstGeom>
          <a:solidFill>
            <a:srgbClr val="F7ECE4"/>
          </a:solidFill>
          <a:ln w="12700">
            <a:solidFill>
              <a:srgbClr val="F7ECE4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4389120" y="51663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ไม่มีระบบตรวจสอบย้อนกลับ = ส่งออกไปยุโรป/สหรัฐฯ ไม่ได้ ซึ่งกระทบรายได้โดยตรง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8799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แหล่งข้อมูล: แผนธุรกิจ RubberLink (ข้อมูลเชิงคุณภาพ)</a:t>
            </a:r>
            <a:endParaRPr lang="en-US" sz="14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โซลูชัน (Solution)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RubberLink ยางพรีเมียม สเปกแม่นยำ ตรวจสอบย้อนกลับได้ และยั่งยืน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rgbClr val="E3F3E6"/>
          </a:solidFill>
          <a:ln w="12700">
            <a:solidFill>
              <a:srgbClr val="E3F3E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1600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ตรวจสอบย้อนกลับได้ 100% (EUDR)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198424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ลงทะเบียนพิกัด GPS สวนยาง การันตีสายการผลิตไม่ทำลายป่า</a:t>
            </a:r>
            <a:endParaRPr lang="en-US" sz="1900" dirty="0"/>
          </a:p>
        </p:txBody>
      </p:sp>
      <p:sp>
        <p:nvSpPr>
          <p:cNvPr id="12" name="Shape 9"/>
          <p:cNvSpPr/>
          <p:nvPr/>
        </p:nvSpPr>
        <p:spPr>
          <a:xfrm>
            <a:off x="548640" y="2788920"/>
            <a:ext cx="777240" cy="777240"/>
          </a:xfrm>
          <a:prstGeom prst="ellipse">
            <a:avLst/>
          </a:prstGeom>
          <a:solidFill>
            <a:srgbClr val="E3F3E6"/>
          </a:solidFill>
          <a:ln w="12700">
            <a:solidFill>
              <a:srgbClr val="E3F3E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718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54480" y="2788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คุณภาพสูง มาตรฐานสากล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1554480" y="317296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ยาง STR, RSS, น้ำยางข้น สิ่งเจือปนต่ำ ได้มาตรฐาน ISO/STR</a:t>
            </a:r>
            <a:endParaRPr lang="en-US" sz="19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777240" cy="777240"/>
          </a:xfrm>
          <a:prstGeom prst="ellipse">
            <a:avLst/>
          </a:prstGeom>
          <a:solidFill>
            <a:srgbClr val="E3F3E6"/>
          </a:solidFill>
          <a:ln w="12700">
            <a:solidFill>
              <a:srgbClr val="E3F3E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1605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3977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Co-Development กับลูกค้า B2B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1554480" y="4361688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ร่วมวิจัยสูตรยางผสม (Rubber Compound) เพื่อผลิตสินค้าเฉพาะทาง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548640" y="5257800"/>
            <a:ext cx="6126480" cy="822960"/>
          </a:xfrm>
          <a:prstGeom prst="roundRect">
            <a:avLst>
              <a:gd name="adj" fmla="val 8889"/>
            </a:avLst>
          </a:prstGeom>
          <a:solidFill>
            <a:srgbClr val="FBFDF9"/>
          </a:solidFill>
          <a:ln w="15875">
            <a:solidFill>
              <a:srgbClr val="A3B6A8"/>
            </a:solidFill>
            <a:prstDash val="dash"/>
          </a:ln>
        </p:spPr>
      </p:sp>
      <p:sp>
        <p:nvSpPr>
          <p:cNvPr id="21" name="Text 16"/>
          <p:cNvSpPr txBox="1"/>
          <p:nvPr/>
        </p:nvSpPr>
        <p:spPr>
          <a:xfrm>
            <a:off x="548640" y="52578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7B8F8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เทคโนโลยีสะอาด: Automation/Sensor คุมคุณภาพ + ระบบบำบัดน้ำเสียและ Scrubber กำจัดกลิ่น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7086600" y="1600200"/>
            <a:ext cx="4526280" cy="4480560"/>
          </a:xfrm>
          <a:prstGeom prst="roundRect">
            <a:avLst>
              <a:gd name="adj" fmla="val 1633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60920" y="1783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ก่อน vs หลัง ใช้ RubberLink</a:t>
            </a:r>
            <a:endParaRPr lang="en-US" sz="2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28600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143000"/>
                <a:gridCol w="1325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ประเด็น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ก่อน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E9B63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หลัง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ส่งออก EUDR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ตรวจไม่ได้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E9B63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GPS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ราคายาง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ผันผวน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E9B63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ล็อกราคา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กลิ่น/น้ำเสีย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ต้นทุนสูง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E9B63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บำบัด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แรงงาน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พึ่งคนสูง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3E9B63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อัตโนมัติ</a:t>
                      </a:r>
                      <a:endParaRPr lang="en-US" sz="19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 19"/>
          <p:cNvSpPr txBox="1"/>
          <p:nvPr/>
        </p:nvSpPr>
        <p:spPr>
          <a:xfrm>
            <a:off x="736092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แก้ปัญหาตรงจุดตามปัญหาในสไลด์ที่ 2</a:t>
            </a:r>
            <a:endParaRPr lang="en-US" sz="16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76C782"/>
          </a:solidFill>
          <a:ln w="12700">
            <a:solidFill>
              <a:srgbClr val="76C7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4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โอกาสในตลาด (Market Opportunity)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เป้าหมายคือส่วนแบ่ง 3–5% ของตลาดยางพรีเมียมส่งออกผ่านเกณฑ์ EUDR ภายใน 3–5 ปี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731520" y="1600200"/>
            <a:ext cx="4480560" cy="4480560"/>
          </a:xfrm>
          <a:prstGeom prst="roundRect">
            <a:avLst>
              <a:gd name="adj" fmla="val 12000"/>
            </a:avLst>
          </a:prstGeom>
          <a:solidFill>
            <a:srgbClr val="E3F3E6"/>
          </a:solidFill>
          <a:ln w="12700">
            <a:solidFill>
              <a:srgbClr val="E3F3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697480"/>
            <a:ext cx="3017520" cy="3017520"/>
          </a:xfrm>
          <a:prstGeom prst="ellipse">
            <a:avLst/>
          </a:prstGeom>
          <a:solidFill>
            <a:srgbClr val="BFE2C6"/>
          </a:solidFill>
          <a:ln w="12700">
            <a:solidFill>
              <a:srgbClr val="BFE2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3794760"/>
            <a:ext cx="1554480" cy="1554480"/>
          </a:xfrm>
          <a:prstGeom prst="ellipse">
            <a:avLst/>
          </a:prstGeom>
          <a:solidFill>
            <a:srgbClr val="76C782"/>
          </a:solidFill>
          <a:ln w="12700">
            <a:solidFill>
              <a:srgbClr val="76C7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45920" y="1828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TAM</a:t>
            </a:r>
            <a:endParaRPr lang="en-US" sz="20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1.2 ล้านล้านบาท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97180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SAM</a:t>
            </a:r>
            <a:endParaRPr lang="en-US" sz="2000" dirty="0"/>
          </a:p>
          <a:p>
            <a:pPr algn="ctr"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1.5 แสนล้านบาท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7947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SOM</a:t>
            </a:r>
            <a:endParaRPr lang="en-US" sz="19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5,000 ล้านบาท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600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F5A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TAM – ตลาดทั้งหมด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1965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ตลาดยางธรรมชาติและยางแปรรูปทั่วโลก ($33–57B)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24688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F5A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SAM – ตลาดที่เข้าถึงได้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0" y="2834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ยางมาตรฐานยั่งยืนรองรับ EUDR ตลาดยุโรป สหรัฐฯ ญี่ปุ่น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33375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F5A3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SOM – ส่วนแบ่งที่จะได้ใน 3–5 ปี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703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ส่วนแบ่ง 3–5% ของตลาดยางพรีเมียมส่งออกผ่านเกณฑ์ EUDR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760720" y="4297680"/>
            <a:ext cx="5852160" cy="1783080"/>
          </a:xfrm>
          <a:prstGeom prst="roundRect">
            <a:avLst>
              <a:gd name="adj" fmla="val 4103"/>
            </a:avLst>
          </a:prstGeom>
          <a:solidFill>
            <a:srgbClr val="EAF5EC"/>
          </a:solidFill>
          <a:ln w="12700">
            <a:solidFill>
              <a:srgbClr val="EAF5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8932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ทำไมต้องเป็นตอนนี้ (Why Now)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4846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EUDR บังคับยืนยัน GPS แปลงปลูก 100% ไม่มีระบบ = ส่งออก EU ไม่ได้</a:t>
            </a:r>
            <a:endParaRPr lang="en-US" sz="1900" dirty="0"/>
          </a:p>
          <a:p>
            <a:pPr marL="342900" indent="-3429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รถ EV หนักกว่า 20–30% ต้องการยางคุณสมบัติพิเศษ</a:t>
            </a:r>
            <a:endParaRPr lang="en-US" sz="1900" dirty="0"/>
          </a:p>
          <a:p>
            <a:pPr marL="342900" indent="-3429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น้ำยางข้นสำหรับถุงมือ/การแพทย์เติบโตต่อเนื่อง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0819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dirty="0">
                <a:solidFill>
                  <a:srgbClr val="87998C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แหล่งข้อมูล: เอกสารโครงการ RubberLink (ประมาณการ)</a:t>
            </a:r>
            <a:endParaRPr lang="en-US" sz="1400" dirty="0"/>
          </a:p>
        </p:txBody>
      </p:sp>
      <p:sp>
        <p:nvSpPr>
          <p:cNvPr id="2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76C782"/>
          </a:solidFill>
          <a:ln w="12700">
            <a:solidFill>
              <a:srgbClr val="76C7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โมเดลธุรกิจ (Business Model)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รายได้ 4 สตรีม ราคาพรีเมียม EUDR 10–15% และ Gross Margin รวม 15–25%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148840" cy="3108960"/>
          </a:xfrm>
          <a:prstGeom prst="roundRect">
            <a:avLst>
              <a:gd name="adj" fmla="val 3404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ขายยางพรีเมียม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3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15–20%</a:t>
            </a: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 GM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7432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STR / RSS</a:t>
            </a:r>
            <a:endParaRPr lang="en-US" sz="180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น้ำยางข้น</a:t>
            </a:r>
            <a:endParaRPr lang="en-US" sz="180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Premium EUDR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40233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กลุ่มลูกค้า: </a:t>
            </a:r>
            <a:r>
              <a:rPr lang="en-US" sz="15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โรงงานยางรถยนต์ / ถุงมือยาง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80360" y="1600200"/>
            <a:ext cx="2148840" cy="3108960"/>
          </a:xfrm>
          <a:prstGeom prst="roundRect">
            <a:avLst>
              <a:gd name="adj" fmla="val 3404"/>
            </a:avLst>
          </a:prstGeom>
          <a:solidFill>
            <a:srgbClr val="E3F3E6"/>
          </a:solidFill>
          <a:ln w="12700">
            <a:solidFill>
              <a:srgbClr val="E3F3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6324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2F8F6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รับผลิต OEM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06324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3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25–35%</a:t>
            </a: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 GM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27432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สูตรเฉพาะลูกค้า</a:t>
            </a:r>
            <a:endParaRPr lang="en-US" sz="180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สำหรับ EV / การแพทย์</a:t>
            </a:r>
            <a:endParaRPr lang="en-US" sz="180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ผสมยางคอมพาวนด์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017520" y="40233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896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กลุ่มลูกค้า: </a:t>
            </a:r>
            <a:r>
              <a:rPr lang="en-US" sz="15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ผู้ผลิตยาง EV / อุตสาหกรรม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12080" y="1600200"/>
            <a:ext cx="2148840" cy="3108960"/>
          </a:xfrm>
          <a:prstGeom prst="roundRect">
            <a:avLst>
              <a:gd name="adj" fmla="val 3404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9496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Traceability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394960" y="2148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3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บริการ</a:t>
            </a: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 Data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394960" y="27432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เอกสาร EUDR</a:t>
            </a:r>
            <a:endParaRPr lang="en-US" sz="180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รายงาน ESG</a:t>
            </a:r>
            <a:endParaRPr lang="en-US" sz="1800" dirty="0"/>
          </a:p>
          <a:p>
            <a:pPr indent="0" marL="0">
              <a:lnSpc>
                <a:spcPts val="2000"/>
              </a:lnSpc>
              <a:spcAft>
                <a:spcPts val="400"/>
              </a:spcAft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ใบรับรอง COA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49240" y="4023360"/>
            <a:ext cx="18745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4068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กลุ่มลูกค้า: </a:t>
            </a:r>
            <a:r>
              <a:rPr lang="en-US" sz="15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คู่ค้าที่ต้องการเอกสาร EUDR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6812280" cy="1188720"/>
          </a:xfrm>
          <a:prstGeom prst="roundRect">
            <a:avLst>
              <a:gd name="adj" fmla="val 6154"/>
            </a:avLst>
          </a:prstGeom>
          <a:solidFill>
            <a:srgbClr val="F6FAF5"/>
          </a:solidFill>
          <a:ln w="12700">
            <a:solidFill>
              <a:srgbClr val="F6FAF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" y="49834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แหล่งรายได้ (Revenue Streams)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53492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STR/RSS • น้ำยางข้น • OEM Compounding • Traceability</a:t>
            </a:r>
            <a:endParaRPr lang="en-US" sz="18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SICOM/TOCOM + EUDR Premium 10–15% ล็อกด้วย Forward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7726680" y="1600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Unit Economics (ต่อตัน)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726680" y="2057400"/>
            <a:ext cx="1874520" cy="1207008"/>
          </a:xfrm>
          <a:prstGeom prst="roundRect">
            <a:avLst>
              <a:gd name="adj" fmla="val 6061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863840" y="2167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8F6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60–70%</a:t>
            </a:r>
            <a:endParaRPr lang="en-US" sz="300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ต้นทุนวัตถุดิบ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738360" y="2057400"/>
            <a:ext cx="1874520" cy="1207008"/>
          </a:xfrm>
          <a:prstGeom prst="roundRect">
            <a:avLst>
              <a:gd name="adj" fmla="val 6061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75520" y="2167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8F6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10–15%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9875520" y="27432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ต้นทุนการแปรรูป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26680" y="3401568"/>
            <a:ext cx="1874520" cy="1207008"/>
          </a:xfrm>
          <a:prstGeom prst="roundRect">
            <a:avLst>
              <a:gd name="adj" fmla="val 6061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0" y="35112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8F6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2–3%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7863840" y="4087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Compliance &amp; Tech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738360" y="3401568"/>
            <a:ext cx="1874520" cy="1207008"/>
          </a:xfrm>
          <a:prstGeom prst="roundRect">
            <a:avLst>
              <a:gd name="adj" fmla="val 6061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875520" y="35112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8F6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15–25%</a:t>
            </a:r>
            <a:endParaRPr lang="en-US" sz="3000" dirty="0"/>
          </a:p>
        </p:txBody>
      </p:sp>
      <p:sp>
        <p:nvSpPr>
          <p:cNvPr id="41" name="Text 39"/>
          <p:cNvSpPr txBox="1"/>
          <p:nvPr/>
        </p:nvSpPr>
        <p:spPr>
          <a:xfrm>
            <a:off x="9875520" y="408736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Gross Margin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726680" y="4745736"/>
            <a:ext cx="1874520" cy="1207008"/>
          </a:xfrm>
          <a:prstGeom prst="roundRect">
            <a:avLst>
              <a:gd name="adj" fmla="val 6061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863840" y="48554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8F6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5–8x</a:t>
            </a:r>
            <a:endParaRPr lang="en-US" sz="3000" dirty="0"/>
          </a:p>
        </p:txBody>
      </p:sp>
      <p:sp>
        <p:nvSpPr>
          <p:cNvPr id="44" name="Text 42"/>
          <p:cNvSpPr txBox="1"/>
          <p:nvPr/>
        </p:nvSpPr>
        <p:spPr>
          <a:xfrm>
            <a:off x="7863840" y="54315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LTV : CAC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738360" y="4745736"/>
            <a:ext cx="1874520" cy="1207008"/>
          </a:xfrm>
          <a:prstGeom prst="roundRect">
            <a:avLst>
              <a:gd name="adj" fmla="val 6061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875520" y="48554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2F8F6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3–6 ด.</a:t>
            </a:r>
            <a:endParaRPr lang="en-US" sz="3000" dirty="0"/>
          </a:p>
        </p:txBody>
      </p:sp>
      <p:sp>
        <p:nvSpPr>
          <p:cNvPr id="47" name="Text 45"/>
          <p:cNvSpPr txBox="1"/>
          <p:nvPr/>
        </p:nvSpPr>
        <p:spPr>
          <a:xfrm>
            <a:off x="9875520" y="543153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CAC Payback (เดือน)</a:t>
            </a:r>
            <a:endParaRPr lang="en-US" sz="16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76C782"/>
          </a:solidFill>
          <a:ln w="12700">
            <a:solidFill>
              <a:srgbClr val="76C78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6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กลยุทธ์เข้าตลาด (4P)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ขายตรง B2B ยางพรีเมียมตรวจสอบย้อนกลับได้ ราคาอ้างอิงสากล + EUDR Premium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1874520"/>
            <a:ext cx="10332720" cy="0"/>
          </a:xfrm>
          <a:prstGeom prst="line">
            <a:avLst/>
          </a:prstGeom>
          <a:noFill/>
          <a:ln w="38100">
            <a:solidFill>
              <a:srgbClr val="76C7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691640"/>
            <a:ext cx="365760" cy="365760"/>
          </a:xfrm>
          <a:prstGeom prst="ellipse">
            <a:avLst/>
          </a:prstGeom>
          <a:solidFill>
            <a:srgbClr val="76C7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P1  |  Product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300" b="1" dirty="0">
                <a:solidFill>
                  <a:srgbClr val="3E9B6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ยางมาตรฐานสูง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926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STR / RSS มาตรฐาน ISO/STR</a:t>
            </a:r>
            <a:endParaRPr lang="en-US" sz="1900" dirty="0"/>
          </a:p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น้ำยางข้น + คอมพาวนด์สูตรเฉพาะ</a:t>
            </a:r>
            <a:endParaRPr lang="en-US" sz="1900" dirty="0"/>
          </a:p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พร้อมใบรับรอง Traceability (COA)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480560" y="1691640"/>
            <a:ext cx="365760" cy="365760"/>
          </a:xfrm>
          <a:prstGeom prst="ellipse">
            <a:avLst/>
          </a:prstGeom>
          <a:solidFill>
            <a:srgbClr val="76C7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P2  |  Price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300" b="1" dirty="0">
                <a:solidFill>
                  <a:srgbClr val="3E9B6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ราคาอ้างอิงตลาดล่วงหน้า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926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ดัชนีสากล SICOM / TOCOM</a:t>
            </a:r>
            <a:endParaRPr lang="en-US" sz="1900" dirty="0"/>
          </a:p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บวก EUDR Premium 10–15%</a:t>
            </a:r>
            <a:endParaRPr lang="en-US" sz="1900" dirty="0"/>
          </a:p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สัญญา Forward Contract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365760" cy="365760"/>
          </a:xfrm>
          <a:prstGeom prst="ellipse">
            <a:avLst/>
          </a:prstGeom>
          <a:solidFill>
            <a:srgbClr val="76C7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P3  |  Place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300" b="1" dirty="0">
                <a:solidFill>
                  <a:srgbClr val="3E9B63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ขายตรง B2B + ส่งออก</a:t>
            </a:r>
            <a:endParaRPr lang="en-US" sz="23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92608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ขายตรง B2B (Direct Sales)</a:t>
            </a:r>
            <a:endParaRPr lang="en-US" sz="1900" dirty="0"/>
          </a:p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เครือข่ายสหกรณ์</a:t>
            </a:r>
            <a:endParaRPr lang="en-US" sz="1900" dirty="0"/>
          </a:p>
          <a:p>
            <a:pPr indent="0" marL="0">
              <a:lnSpc>
                <a:spcPts val="21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งาน B2B Trade Expos ต่างประเทศ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Promotion (P4)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54880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ตัวอย่างทดสอบแล็บ (Sample Testing)</a:t>
            </a:r>
            <a:endParaRPr lang="en-US" sz="1900" dirty="0"/>
          </a:p>
          <a:p>
            <a:pPr marL="342900" indent="-3429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ESG Compliance Report</a:t>
            </a:r>
            <a:endParaRPr lang="en-US" sz="1900" dirty="0"/>
          </a:p>
          <a:p>
            <a:pPr marL="342900" indent="-342900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9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ใบรับรองมาตรฐาน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42519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จุดขายหลักต่อคู่ค้า B2B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309360" y="4617720"/>
            <a:ext cx="5303520" cy="320040"/>
          </a:xfrm>
          <a:prstGeom prst="rect">
            <a:avLst/>
          </a:prstGeom>
          <a:solidFill>
            <a:srgbClr val="CDEB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0936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GPS ย้อนกลับ 100%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0" y="4983480"/>
            <a:ext cx="4206240" cy="320040"/>
          </a:xfrm>
          <a:prstGeom prst="rect">
            <a:avLst/>
          </a:prstGeom>
          <a:solidFill>
            <a:srgbClr val="B5E0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4983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ISO / STR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406640" y="5349240"/>
            <a:ext cx="3108960" cy="320040"/>
          </a:xfrm>
          <a:prstGeom prst="rect">
            <a:avLst/>
          </a:prstGeom>
          <a:solidFill>
            <a:srgbClr val="76C78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06640" y="5349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Forward Contract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955280" y="5715000"/>
            <a:ext cx="2011680" cy="320040"/>
          </a:xfrm>
          <a:prstGeom prst="rect">
            <a:avLst/>
          </a:prstGeom>
          <a:solidFill>
            <a:srgbClr val="3E9B6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5280" y="57150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Co-Development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7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การบริหารการผลิต (4M)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แนวทาง: ควบคุมคุณภาพยางด้วย 4M ตั้งแต่คน เครื่องจักร วัตถุดิบ จนถึงกระบวนการ</a:t>
            </a:r>
            <a:endParaRPr lang="en-US" sz="2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40" name="Box 40"/>
          <p:cNvSpPr/>
          <p:nvPr/>
        </p:nvSpPr>
        <p:spPr>
          <a:xfrm>
            <a:off x="548640" y="1554480"/>
            <a:ext cx="3544824" cy="1645920"/>
          </a:xfrm>
          <a:prstGeom prst="roundRect">
            <a:avLst>
              <a:gd name="adj" fmla="val 6000"/>
            </a:avLst>
          </a:prstGeom>
          <a:solidFill>
            <a:srgbClr val="E3F3E6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1" name="Text 41"/>
          <p:cNvSpPr txBox="1"/>
          <p:nvPr/>
        </p:nvSpPr>
        <p:spPr>
          <a:xfrm>
            <a:off x="777240" y="1719072"/>
            <a:ext cx="3087624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400"/>
              </a:spcAft>
              <a:buNone/>
            </a:pPr>
            <a:r>
              <a:rPr lang="th-TH" sz="24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Automation &amp; Sensor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7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วัดค่าเนื้อยางแห้ง (DRC) แม่นยำ พร้อมแผนบำรุงรักษาเชิงป้องกัน (PM)</a:t>
            </a:r>
          </a:p>
        </p:txBody>
      </p:sp>
      <p:sp>
        <p:nvSpPr>
          <p:cNvPr id="42" name="Box 42"/>
          <p:cNvSpPr/>
          <p:nvPr/>
        </p:nvSpPr>
        <p:spPr>
          <a:xfrm>
            <a:off x="4322064" y="1554480"/>
            <a:ext cx="3544824" cy="1645920"/>
          </a:xfrm>
          <a:prstGeom prst="roundRect">
            <a:avLst>
              <a:gd name="adj" fmla="val 6000"/>
            </a:avLst>
          </a:prstGeom>
          <a:solidFill>
            <a:srgbClr val="E3F3E6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3" name="Text 43"/>
          <p:cNvSpPr txBox="1"/>
          <p:nvPr/>
        </p:nvSpPr>
        <p:spPr>
          <a:xfrm>
            <a:off x="4550664" y="1719072"/>
            <a:ext cx="3087624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400"/>
              </a:spcAft>
              <a:buNone/>
            </a:pPr>
            <a:r>
              <a:rPr lang="th-TH" sz="24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QC วัตถุดิบ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7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คัดกรองน้ำยางสด/ก้อนถ้วยก่อนเข้าผลิต เก็บในคลังคุมอุณหภูมิป้องกันเชื้อรา</a:t>
            </a:r>
          </a:p>
        </p:txBody>
      </p:sp>
      <p:sp>
        <p:nvSpPr>
          <p:cNvPr id="44" name="Box 44"/>
          <p:cNvSpPr/>
          <p:nvPr/>
        </p:nvSpPr>
        <p:spPr>
          <a:xfrm>
            <a:off x="8095488" y="1554480"/>
            <a:ext cx="3544824" cy="1645920"/>
          </a:xfrm>
          <a:prstGeom prst="roundRect">
            <a:avLst>
              <a:gd name="adj" fmla="val 6000"/>
            </a:avLst>
          </a:prstGeom>
          <a:solidFill>
            <a:srgbClr val="E3F3E6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5" name="Text 45"/>
          <p:cNvSpPr txBox="1"/>
          <p:nvPr/>
        </p:nvSpPr>
        <p:spPr>
          <a:xfrm>
            <a:off x="8324088" y="1719072"/>
            <a:ext cx="3087624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400"/>
              </a:spcAft>
              <a:buNone/>
            </a:pPr>
            <a:r>
              <a:rPr lang="th-TH" sz="24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Clean Tech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7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ระบบบำบัดน้ำเสียและ Scrubber กำจัดกลิ่น ควบคู่ SOP คุมการจับตัวและอบแห้ง</a:t>
            </a:r>
          </a:p>
        </p:txBody>
      </p:sp>
      <p:sp>
        <p:nvSpPr>
          <p:cNvPr id="46" name="Box 46"/>
          <p:cNvSpPr/>
          <p:nvPr/>
        </p:nvSpPr>
        <p:spPr>
          <a:xfrm>
            <a:off x="548640" y="3429000"/>
            <a:ext cx="11091672" cy="2606040"/>
          </a:xfrm>
          <a:prstGeom prst="roundRect">
            <a:avLst>
              <a:gd name="adj" fmla="val 6000"/>
            </a:avLst>
          </a:prstGeom>
          <a:solidFill>
            <a:srgbClr val="EEF4E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7" name="Text 47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2200" b="1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หลัก 4M ในโรงงาน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822960" y="4206240"/>
            <a:ext cx="2498598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400"/>
              </a:spcAft>
              <a:buNone/>
            </a:pPr>
            <a:r>
              <a:rPr lang="th-TH" sz="22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Man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7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ทีมวิศวกรแปรรูปยาง ผู้เชี่ยวชาญ ESG/EUDR และเครือข่ายเกษตรกร/สหกรณ์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3504438" y="4206240"/>
            <a:ext cx="2498598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400"/>
              </a:spcAft>
              <a:buNone/>
            </a:pPr>
            <a:r>
              <a:rPr lang="th-TH" sz="22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Machine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7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DRC Sensor, Automation อบ/รมควัน และ Scrubber บำบัดกลิ่น/น้ำเสีย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185916" y="4206240"/>
            <a:ext cx="2498598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400"/>
              </a:spcAft>
              <a:buNone/>
            </a:pPr>
            <a:r>
              <a:rPr lang="th-TH" sz="22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Material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7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น้ำยางสดและยางก้อนถ้วยเกรดพรีเมียม สแกนพิกัด GPS รายแปลง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8867394" y="4206240"/>
            <a:ext cx="2498598" cy="1737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400"/>
              </a:spcAft>
              <a:buNone/>
            </a:pPr>
            <a:r>
              <a:rPr lang="th-TH" sz="22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Method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7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SOP มาตรฐาน ISO/STR และบันทึก Traceability แบบ Real-time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8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การวิเคราะห์คู่แข่ง (Competition)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RubberLink รวมแพลตฟอร์ม Traceability เข้ากับโรงงานแปรรูปจริงไว้ในที่เดียว</a:t>
            </a:r>
            <a:endParaRPr lang="en-US" sz="2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  <p:sp>
        <p:nvSpPr>
          <p:cNvPr id="40" name="Box 40"/>
          <p:cNvSpPr/>
          <p:nvPr/>
        </p:nvSpPr>
        <p:spPr>
          <a:xfrm>
            <a:off x="548640" y="1554480"/>
            <a:ext cx="2635758" cy="3246120"/>
          </a:xfrm>
          <a:prstGeom prst="roundRect">
            <a:avLst>
              <a:gd name="adj" fmla="val 6000"/>
            </a:avLst>
          </a:prstGeom>
          <a:solidFill>
            <a:srgbClr val="F0F2E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1" name="Text 41"/>
          <p:cNvSpPr txBox="1"/>
          <p:nvPr/>
        </p:nvSpPr>
        <p:spPr>
          <a:xfrm>
            <a:off x="749808" y="1737360"/>
            <a:ext cx="2269998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th-TH" sz="17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คู่แข่ง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th-TH" sz="2200" b="1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ผู้แปรรูปรายใหญ่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EUDR: ปรับตัวช้า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คุมคุณภาพแปรรูปสูง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คล่องตัวปานกลาง-ต่ำ</a:t>
            </a:r>
          </a:p>
        </p:txBody>
      </p:sp>
      <p:sp>
        <p:nvSpPr>
          <p:cNvPr id="42" name="Box 42"/>
          <p:cNvSpPr/>
          <p:nvPr/>
        </p:nvSpPr>
        <p:spPr>
          <a:xfrm>
            <a:off x="3367278" y="1554480"/>
            <a:ext cx="2635758" cy="3246120"/>
          </a:xfrm>
          <a:prstGeom prst="roundRect">
            <a:avLst>
              <a:gd name="adj" fmla="val 6000"/>
            </a:avLst>
          </a:prstGeom>
          <a:solidFill>
            <a:srgbClr val="F0F2E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3" name="Text 43"/>
          <p:cNvSpPr txBox="1"/>
          <p:nvPr/>
        </p:nvSpPr>
        <p:spPr>
          <a:xfrm>
            <a:off x="3568446" y="1737360"/>
            <a:ext cx="2269998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th-TH" sz="17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คู่แข่ง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th-TH" sz="2200" b="1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แพลตฟอร์ม Traceability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Traceability สูงมาก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ไม่มีโรงงาน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เข้าถึงเกษตรกรต่ำ</a:t>
            </a:r>
          </a:p>
        </p:txBody>
      </p:sp>
      <p:sp>
        <p:nvSpPr>
          <p:cNvPr id="44" name="Box 44"/>
          <p:cNvSpPr/>
          <p:nvPr/>
        </p:nvSpPr>
        <p:spPr>
          <a:xfrm>
            <a:off x="6185916" y="1554480"/>
            <a:ext cx="2635758" cy="3246120"/>
          </a:xfrm>
          <a:prstGeom prst="roundRect">
            <a:avLst>
              <a:gd name="adj" fmla="val 6000"/>
            </a:avLst>
          </a:prstGeom>
          <a:solidFill>
            <a:srgbClr val="F0F2EE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5" name="Text 45"/>
          <p:cNvSpPr txBox="1"/>
          <p:nvPr/>
        </p:nvSpPr>
        <p:spPr>
          <a:xfrm>
            <a:off x="6387084" y="1737360"/>
            <a:ext cx="2269998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th-TH" sz="17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คู่แข่ง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th-TH" sz="2200" b="1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สหกรณ์การเกษตร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เข้าถึงเกษตรกรสูงมาก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Traceability ต่ำ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คล่องตัวต่ำ</a:t>
            </a:r>
          </a:p>
        </p:txBody>
      </p:sp>
      <p:sp>
        <p:nvSpPr>
          <p:cNvPr id="46" name="Box 46"/>
          <p:cNvSpPr/>
          <p:nvPr/>
        </p:nvSpPr>
        <p:spPr>
          <a:xfrm>
            <a:off x="9004554" y="1554480"/>
            <a:ext cx="2635758" cy="3246120"/>
          </a:xfrm>
          <a:prstGeom prst="roundRect">
            <a:avLst>
              <a:gd name="adj" fmla="val 6000"/>
            </a:avLst>
          </a:prstGeom>
          <a:solidFill>
            <a:srgbClr val="E4F5DF"/>
          </a:solidFill>
          <a:ln w="25400">
            <a:solidFill>
              <a:srgbClr val="4FB36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7" name="Text 47"/>
          <p:cNvSpPr txBox="1"/>
          <p:nvPr/>
        </p:nvSpPr>
        <p:spPr>
          <a:xfrm>
            <a:off x="9205722" y="1737360"/>
            <a:ext cx="2269998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th-TH" sz="17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เรา</a:t>
            </a:r>
          </a:p>
          <a:p>
            <a:pPr marL="0" indent="0">
              <a:lnSpc>
                <a:spcPct val="95000"/>
              </a:lnSpc>
              <a:spcAft>
                <a:spcPts val="600"/>
              </a:spcAft>
              <a:buNone/>
            </a:pPr>
            <a:r>
              <a:rPr lang="th-TH" sz="2200" b="1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RubberLink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Traceability End-to-End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คุณภาพ ISO/STR สูง</a:t>
            </a:r>
          </a:p>
          <a:p>
            <a:pPr marL="285750" indent="-285750">
              <a:lnSpc>
                <a:spcPct val="95000"/>
              </a:lnSpc>
              <a:spcAft>
                <a:spcPts val="600"/>
              </a:spcAft>
              <a:buFont typeface="Arial"/>
              <a:buChar char="•"/>
            </a:pPr>
            <a:r>
              <a:rPr lang="th-TH" sz="18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คล่องตัวสูง เข้าถึงเกษตรกรสูง</a:t>
            </a:r>
          </a:p>
        </p:txBody>
      </p:sp>
      <p:sp>
        <p:nvSpPr>
          <p:cNvPr id="48" name="Box 48"/>
          <p:cNvSpPr/>
          <p:nvPr/>
        </p:nvSpPr>
        <p:spPr>
          <a:xfrm>
            <a:off x="548640" y="4983480"/>
            <a:ext cx="11091672" cy="1097280"/>
          </a:xfrm>
          <a:prstGeom prst="roundRect">
            <a:avLst>
              <a:gd name="adj" fmla="val 6000"/>
            </a:avLst>
          </a:prstGeom>
          <a:solidFill>
            <a:srgbClr val="E4F5D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9" name="Text 49"/>
          <p:cNvSpPr txBox="1"/>
          <p:nvPr/>
        </p:nvSpPr>
        <p:spPr>
          <a:xfrm>
            <a:off x="777240" y="5102352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200"/>
              </a:spcAft>
              <a:buNone/>
            </a:pPr>
            <a:r>
              <a:rPr lang="th-TH" sz="2000" b="1" dirty="0">
                <a:solidFill>
                  <a:srgbClr val="2F7D4A"/>
                </a:solidFill>
                <a:latin typeface="TH Sarabun New"/>
                <a:ea typeface="TH Sarabun New"/>
                <a:cs typeface="TH Sarabun New"/>
              </a:rPr>
              <a:t>ความได้เปรียบที่ยั่งยืน (Moat)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7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1) Integrated Eco-System: GPS Mapping + โรงงานจริง   2) Data &amp; Quality Traceability: พิกัด GPS + ค่า DRC   3) Ecosystem Partner Model: ราคาพรีเมียมแลกข้อมูลพิกัดแปลงปลูก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6FBF7F"/>
          </a:solidFill>
          <a:ln w="12700">
            <a:solidFill>
              <a:srgbClr val="6FBF7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9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ประมาณการทางการเงิน (Financials)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ราคาพรีเมียม EUDR 10–15% ช่วยให้ Gross Margin 15–25% เป้าหมายรายได้ 50–100 ล้านบาท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1463040"/>
          <a:ext cx="694944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694944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23774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รายการต่อตัน (MT)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% ของราคาขาย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1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ต้นทุนวัตถุดิบ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60–70%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ต้นทุนการแปรรูป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10–15%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Compliance &amp; Tech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2–3%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Gross Margin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 b="0">
                          <a:solidFill>
                            <a:srgbClr val="1A3C2A"/>
                          </a:solidFill>
                          <a:latin typeface="TH Sarabun New" pitchFamily="34" charset="0"/>
                          <a:ea typeface="TH Sarabun New" pitchFamily="34" charset="-122"/>
                          <a:cs typeface="TH Sarabun New" pitchFamily="34" charset="-120"/>
                        </a:rPr>
                        <a:t>15–25%</a:t>
                      </a:r>
                      <a:endParaRPr lang="en-US" sz="1600" dirty="0">
                        <a:latin typeface="TH Sarabun New" charset="0"/>
                        <a:ea typeface="TH Sarabun New" charset="0"/>
                        <a:cs typeface="TH Sarabun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E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863840" y="1600200"/>
            <a:ext cx="3749040" cy="4480560"/>
          </a:xfrm>
          <a:prstGeom prst="roundRect">
            <a:avLst>
              <a:gd name="adj" fmla="val 1951"/>
            </a:avLst>
          </a:prstGeom>
          <a:solidFill>
            <a:srgbClr val="EEF7E8"/>
          </a:solidFill>
          <a:ln w="12700">
            <a:solidFill>
              <a:srgbClr val="EEF7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9244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ตัวเลขสำคัญ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092440" y="21488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ARPA ต่อราย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987552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5–20 ล้าน/ปี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8092440" y="253288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GM สินค้าทั่วไป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9875520" y="25328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15–20%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092440" y="29169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GM OEM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9875520" y="291693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25–35%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8092440" y="3429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เป้าหมายหลังระดมทุน</a:t>
            </a:r>
            <a:endParaRPr lang="en-US" sz="2000" dirty="0"/>
          </a:p>
        </p:txBody>
      </p:sp>
      <p:sp>
        <p:nvSpPr>
          <p:cNvPr id="19" name="Text 15"/>
          <p:cNvSpPr txBox="1"/>
          <p:nvPr/>
        </p:nvSpPr>
        <p:spPr>
          <a:xfrm>
            <a:off x="8092440" y="379476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รายได้ 50–100 ล้านบาท</a:t>
            </a:r>
            <a:endParaRPr lang="en-US" sz="1800" dirty="0"/>
          </a:p>
          <a:p>
            <a:pPr marL="342900" indent="-342900">
              <a:lnSpc>
                <a:spcPts val="2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ประหยัดต้นทุน 2.4 ล้าน/ปี</a:t>
            </a:r>
            <a:endParaRPr lang="en-US" sz="1800" dirty="0"/>
          </a:p>
          <a:p>
            <a:pPr marL="342900" indent="-342900">
              <a:lnSpc>
                <a:spcPts val="2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OEE เพิ่มเป็น 78%</a:t>
            </a:r>
            <a:endParaRPr lang="en-US" sz="1800" dirty="0"/>
          </a:p>
          <a:p>
            <a:pPr marL="342900" indent="-342900">
              <a:lnSpc>
                <a:spcPts val="2000"/>
              </a:lnSpc>
              <a:spcAft>
                <a:spcPts val="200"/>
              </a:spcAft>
              <a:buSzPct val="100000"/>
              <a:buChar char="•"/>
            </a:pPr>
            <a:r>
              <a:rPr lang="en-US" sz="18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เตรียมระดมทุน Series A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0" y="5257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20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ปัจจัยหนุนการเติบโต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8092440" y="5596128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092440" y="55961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EV </a:t>
            </a: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พิเศษ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9235440" y="5596128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3E9B63"/>
          </a:solidFill>
          <a:ln w="12700">
            <a:solidFill>
              <a:srgbClr val="3E9B63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235440" y="55961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แพทย์ </a:t>
            </a:r>
            <a:r>
              <a:rPr lang="en-US" sz="15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ถุงมือ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10378440" y="5596128"/>
            <a:ext cx="105156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10378440" y="5596128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400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 xml:space="preserve">ส่งออก </a:t>
            </a:r>
            <a:r>
              <a:rPr lang="en-US" sz="15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EU/US</a:t>
            </a:r>
            <a:endParaRPr lang="en-US" sz="15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A9D9B1"/>
          </a:solidFill>
          <a:ln w="12700">
            <a:solidFill>
              <a:srgbClr val="A9D9B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10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ทีมงานและพันธมิตร (Team)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ทีมบริหารและเครือข่ายพันธมิตรตลอดห่วงโซ่ ตั้งแต่สวนยางจนถึงการส่งออก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1783080"/>
            <a:ext cx="960120" cy="960120"/>
          </a:xfrm>
          <a:prstGeom prst="ellipse">
            <a:avLst/>
          </a:prstGeom>
          <a:solidFill>
            <a:srgbClr val="FBFDF9"/>
          </a:solidFill>
          <a:ln w="15875">
            <a:solidFill>
              <a:srgbClr val="A3B6A8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1371600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7B8F8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สวนยาง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เกษตรกร / สหกรณ์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D7A4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แหล่งวัตถุดิบ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แหล่งป้อนวัตถุดิบยางดิบมาตรฐาน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355848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78808" y="1783080"/>
            <a:ext cx="960120" cy="960120"/>
          </a:xfrm>
          <a:prstGeom prst="ellipse">
            <a:avLst/>
          </a:prstGeom>
          <a:solidFill>
            <a:srgbClr val="FBFDF9"/>
          </a:solidFill>
          <a:ln w="15875">
            <a:solidFill>
              <a:srgbClr val="A3B6A8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178808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7B8F8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วิจัย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493008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สถาบันวิจัย / ม.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3493008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D7A4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ร่วมวิจัยและพัฒนา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538728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ร่วมพัฒนาเทคโนโลยีและสูตรยางพารา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63056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86016" y="1783080"/>
            <a:ext cx="960120" cy="960120"/>
          </a:xfrm>
          <a:prstGeom prst="ellipse">
            <a:avLst/>
          </a:prstGeom>
          <a:solidFill>
            <a:srgbClr val="FBFDF9"/>
          </a:solidFill>
          <a:ln w="15875">
            <a:solidFill>
              <a:srgbClr val="A3B6A8"/>
            </a:solidFill>
            <a:prstDash val="dash"/>
          </a:ln>
        </p:spPr>
      </p:sp>
      <p:sp>
        <p:nvSpPr>
          <p:cNvPr id="24" name="Text 22"/>
          <p:cNvSpPr txBox="1"/>
          <p:nvPr/>
        </p:nvSpPr>
        <p:spPr>
          <a:xfrm>
            <a:off x="6986016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7B8F8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ภาครัฐ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300216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กยท. / พาณิชย์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6300216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D7A4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ข้อมูล/สิทธิประโยชน์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45936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สนับสนุนข้อมูลและสิทธิประโยชน์ด้านการส่งออก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970264" y="1600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93224" y="1783080"/>
            <a:ext cx="960120" cy="960120"/>
          </a:xfrm>
          <a:prstGeom prst="ellipse">
            <a:avLst/>
          </a:prstGeom>
          <a:solidFill>
            <a:srgbClr val="FBFDF9"/>
          </a:solidFill>
          <a:ln w="15875">
            <a:solidFill>
              <a:srgbClr val="A3B6A8"/>
            </a:solidFill>
            <a:prstDash val="dash"/>
          </a:ln>
        </p:spPr>
      </p:sp>
      <p:sp>
        <p:nvSpPr>
          <p:cNvPr id="31" name="Text 29"/>
          <p:cNvSpPr txBox="1"/>
          <p:nvPr/>
        </p:nvSpPr>
        <p:spPr>
          <a:xfrm>
            <a:off x="9793224" y="17830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7B8F80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ขนส่ง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107424" y="28346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บริษัทโลจิสติกส์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9107424" y="3154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3D7A4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ขนส่งสินค้าเกษตร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153144" y="35204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ผู้เชี่ยวชาญขนส่งสินค้าเกษตรและตู้คอนเทนเนอร์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48640" y="4800600"/>
            <a:ext cx="6492240" cy="1280160"/>
          </a:xfrm>
          <a:prstGeom prst="roundRect">
            <a:avLst>
              <a:gd name="adj" fmla="val 5714"/>
            </a:avLst>
          </a:prstGeom>
          <a:solidFill>
            <a:srgbClr val="EEF7E8"/>
          </a:solidFill>
          <a:ln w="12700">
            <a:solidFill>
              <a:srgbClr val="EEF7E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48920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ผู้บริหารและทีมงาน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25780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วิศวกรแปรรูปยางพารา และผู้เชี่ยวชาญด้าน ESG/EUDR</a:t>
            </a:r>
            <a:endParaRPr lang="en-US" sz="16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[ระบุรายชื่อและตำแหน่งของทีมบริหาร]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269480" y="480060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F0F8F0"/>
          </a:solidFill>
          <a:ln w="12700">
            <a:solidFill>
              <a:srgbClr val="F0F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0" y="48920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ความเชี่ยวชาญหลักของบริษัท</a:t>
            </a:r>
            <a:endParaRPr lang="en-US" sz="1900" dirty="0"/>
          </a:p>
        </p:txBody>
      </p:sp>
      <p:sp>
        <p:nvSpPr>
          <p:cNvPr id="41" name="Text 39"/>
          <p:cNvSpPr txBox="1"/>
          <p:nvPr/>
        </p:nvSpPr>
        <p:spPr>
          <a:xfrm>
            <a:off x="7498080" y="52578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เชี่ยวชาญห่วงโซ่อุปทานยางธรรมชาติในไทย และเทคโนโลยีปรับปรุงคุณภาพยางแท่ง/คอมพาวนด์ให้ได้มาตรฐานสากล</a:t>
            </a:r>
            <a:endParaRPr lang="en-US" sz="16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dge"/>
          <p:cNvSpPr/>
          <p:nvPr/>
        </p:nvSpPr>
        <p:spPr>
          <a:xfrm>
            <a:off x="548640" y="301752"/>
            <a:ext cx="548640" cy="548640"/>
          </a:xfrm>
          <a:prstGeom prst="ellipse">
            <a:avLst/>
          </a:prstGeom>
          <a:solidFill>
            <a:srgbClr val="8B6B4F"/>
          </a:solidFill>
          <a:ln w="12700">
            <a:solidFill>
              <a:srgbClr val="8B6B4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017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11</a:t>
            </a:r>
            <a:endParaRPr lang="en-US" sz="27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132588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3C2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คำขอระดมทุน (The Ask)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2200" i="1" dirty="0">
                <a:solidFill>
                  <a:srgbClr val="53685A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ระดมทุน ฿15 ล้านบาท Runway 18–24 เดือน เพื่อเงินทุนหมุนเวียน เทคโนโลยี EUDR R&amp;D และตลาด</a:t>
            </a:r>
            <a:endParaRPr lang="en-US" sz="2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400">
                <a:solidFill>
                  <a:srgbClr val="87998C"/>
                </a:solidFill>
                <a:latin typeface="TH Sarabun New"/>
                <a:ea typeface="TH Sarabun New"/>
                <a:cs typeface="TH Sarabun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  <p:sp>
        <p:nvSpPr>
          <p:cNvPr id="40" name="Box 40"/>
          <p:cNvSpPr/>
          <p:nvPr/>
        </p:nvSpPr>
        <p:spPr>
          <a:xfrm>
            <a:off x="548640" y="1554480"/>
            <a:ext cx="4160520" cy="1783080"/>
          </a:xfrm>
          <a:prstGeom prst="roundRect">
            <a:avLst>
              <a:gd name="adj" fmla="val 6000"/>
            </a:avLst>
          </a:prstGeom>
          <a:solidFill>
            <a:srgbClr val="F3ECE3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1" name="Text 41"/>
          <p:cNvSpPr txBox="1"/>
          <p:nvPr/>
        </p:nvSpPr>
        <p:spPr>
          <a:xfrm>
            <a:off x="822960" y="1691640"/>
            <a:ext cx="365760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8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จำนวนเงินที่ระดมทุน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4200" b="1" dirty="0">
                <a:solidFill>
                  <a:srgbClr val="5C4033"/>
                </a:solidFill>
                <a:latin typeface="TH Sarabun New"/>
                <a:ea typeface="TH Sarabun New"/>
                <a:cs typeface="TH Sarabun New"/>
              </a:rPr>
              <a:t>฿15 ล้านบาท</a:t>
            </a:r>
          </a:p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2000" b="1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Seed / Pre-Series A</a:t>
            </a:r>
          </a:p>
        </p:txBody>
      </p:sp>
      <p:sp>
        <p:nvSpPr>
          <p:cNvPr id="42" name="Box 42"/>
          <p:cNvSpPr/>
          <p:nvPr/>
        </p:nvSpPr>
        <p:spPr>
          <a:xfrm>
            <a:off x="548640" y="3520440"/>
            <a:ext cx="4160520" cy="2514600"/>
          </a:xfrm>
          <a:prstGeom prst="roundRect">
            <a:avLst>
              <a:gd name="adj" fmla="val 6000"/>
            </a:avLst>
          </a:prstGeom>
          <a:solidFill>
            <a:srgbClr val="EEF4EF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3" name="Text 43"/>
          <p:cNvSpPr txBox="1"/>
          <p:nvPr/>
        </p:nvSpPr>
        <p:spPr>
          <a:xfrm>
            <a:off x="822960" y="36576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2000" b="1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เป้าหมายหลังระดมทุน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822960" y="416052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2600" b="1" dirty="0">
                <a:solidFill>
                  <a:srgbClr val="5C4033"/>
                </a:solidFill>
                <a:latin typeface="TH Sarabun New"/>
                <a:ea typeface="TH Sarabun New"/>
                <a:cs typeface="TH Sarabun New"/>
              </a:rPr>
              <a:t>50–100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2331720" y="4251959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6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ล้านบาท รายได้เป้าหมาย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822960" y="4782312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2600" b="1" dirty="0">
                <a:solidFill>
                  <a:srgbClr val="5C4033"/>
                </a:solidFill>
                <a:latin typeface="TH Sarabun New"/>
                <a:ea typeface="TH Sarabun New"/>
                <a:cs typeface="TH Sarabun New"/>
              </a:rPr>
              <a:t>2.4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2331720" y="4873751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6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ล้านบาท/ปี ต้นทุนที่ประหยัดได้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822960" y="5404104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2600" b="1" dirty="0">
                <a:solidFill>
                  <a:srgbClr val="5C4033"/>
                </a:solidFill>
                <a:latin typeface="TH Sarabun New"/>
                <a:ea typeface="TH Sarabun New"/>
                <a:cs typeface="TH Sarabun New"/>
              </a:rPr>
              <a:t>78%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2331720" y="5495544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600" b="0" dirty="0">
                <a:solidFill>
                  <a:srgbClr val="53685A"/>
                </a:solidFill>
                <a:latin typeface="TH Sarabun New"/>
                <a:ea typeface="TH Sarabun New"/>
                <a:cs typeface="TH Sarabun New"/>
              </a:rPr>
              <a:t>OEE เครื่องจักร</a:t>
            </a:r>
          </a:p>
        </p:txBody>
      </p:sp>
      <p:sp>
        <p:nvSpPr>
          <p:cNvPr id="50" name="Box 50"/>
          <p:cNvSpPr/>
          <p:nvPr/>
        </p:nvSpPr>
        <p:spPr>
          <a:xfrm>
            <a:off x="4937760" y="1554480"/>
            <a:ext cx="6702552" cy="4480560"/>
          </a:xfrm>
          <a:prstGeom prst="roundRect">
            <a:avLst>
              <a:gd name="adj" fmla="val 6000"/>
            </a:avLst>
          </a:prstGeom>
          <a:solidFill>
            <a:srgbClr val="F3F8F2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1" name="Text 51"/>
          <p:cNvSpPr txBox="1"/>
          <p:nvPr/>
        </p:nvSpPr>
        <p:spPr>
          <a:xfrm>
            <a:off x="5212080" y="173736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2200" b="1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การใช้เงินทุน (Use of Funds)</a:t>
            </a:r>
          </a:p>
        </p:txBody>
      </p:sp>
      <p:graphicFrame>
        <p:nvGraphicFramePr>
          <p:cNvPr id="21" name="Chart 0" descr=""/>
          <p:cNvGraphicFramePr/>
          <p:nvPr/>
        </p:nvGraphicFramePr>
        <p:xfrm>
          <a:off x="5029200" y="2377440"/>
          <a:ext cx="3200400" cy="3566160"/>
        </p:xfrm>
        <a:graphic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2" name="Box 52"/>
          <p:cNvSpPr/>
          <p:nvPr/>
        </p:nvSpPr>
        <p:spPr>
          <a:xfrm>
            <a:off x="8412480" y="2569464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1A3C2A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3" name="Text 53"/>
          <p:cNvSpPr txBox="1"/>
          <p:nvPr/>
        </p:nvSpPr>
        <p:spPr>
          <a:xfrm>
            <a:off x="8732520" y="2514600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6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40% เงินทุนหมุนเวียน (฿6.00 ล้าน)</a:t>
            </a:r>
          </a:p>
        </p:txBody>
      </p:sp>
      <p:sp>
        <p:nvSpPr>
          <p:cNvPr id="54" name="Box 54"/>
          <p:cNvSpPr/>
          <p:nvPr/>
        </p:nvSpPr>
        <p:spPr>
          <a:xfrm>
            <a:off x="8412480" y="3465576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3E9B63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5" name="Text 55"/>
          <p:cNvSpPr txBox="1"/>
          <p:nvPr/>
        </p:nvSpPr>
        <p:spPr>
          <a:xfrm>
            <a:off x="8732520" y="3410712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6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25% EUDR Tech &amp; Automation (฿3.75 ล้าน)</a:t>
            </a:r>
          </a:p>
        </p:txBody>
      </p:sp>
      <p:sp>
        <p:nvSpPr>
          <p:cNvPr id="56" name="Box 56"/>
          <p:cNvSpPr/>
          <p:nvPr/>
        </p:nvSpPr>
        <p:spPr>
          <a:xfrm>
            <a:off x="8412480" y="4361688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76C782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7" name="Text 57"/>
          <p:cNvSpPr txBox="1"/>
          <p:nvPr/>
        </p:nvSpPr>
        <p:spPr>
          <a:xfrm>
            <a:off x="8732520" y="4306824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6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20% R&amp;D และใบรับรอง ISO (฿3.00 ล้าน)</a:t>
            </a:r>
          </a:p>
        </p:txBody>
      </p:sp>
      <p:sp>
        <p:nvSpPr>
          <p:cNvPr id="58" name="Box 58"/>
          <p:cNvSpPr/>
          <p:nvPr/>
        </p:nvSpPr>
        <p:spPr>
          <a:xfrm>
            <a:off x="8412480" y="5257799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B9DFC0"/>
          </a:solidFill>
          <a:ln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59" name="Text 59"/>
          <p:cNvSpPr txBox="1"/>
          <p:nvPr/>
        </p:nvSpPr>
        <p:spPr>
          <a:xfrm>
            <a:off x="8732520" y="5202936"/>
            <a:ext cx="27432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spcAft>
                <a:spcPts val="0"/>
              </a:spcAft>
              <a:buNone/>
            </a:pPr>
            <a:r>
              <a:rPr lang="th-TH" sz="1600" b="0" dirty="0">
                <a:solidFill>
                  <a:srgbClr val="1A3C2A"/>
                </a:solidFill>
                <a:latin typeface="TH Sarabun New"/>
                <a:ea typeface="TH Sarabun New"/>
                <a:cs typeface="TH Sarabun New"/>
              </a:rPr>
              <a:t>15% B2B Sales &amp; Marketing (฿2.25 ล้าน)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48640" cy="548640"/>
          </a:xfrm>
          <a:prstGeom prst="ellipse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57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สรุปและข้อมูลติดต่อ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B089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 เหตุผลที่ควรลงทุนกับ RubberLink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24503A"/>
          </a:solidFill>
          <a:ln w="19050">
            <a:solidFill>
              <a:srgbClr val="8B5E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9476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ปัญหาจริงของอุตสาหกรรมยางพารา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35000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C3D3C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ราคายางผันผวน กฎ EUDR/ESG เข้มงวด และต้นทุนแปรรูปสูง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02920" cy="502920"/>
          </a:xfrm>
          <a:prstGeom prst="ellipse">
            <a:avLst/>
          </a:prstGeom>
          <a:solidFill>
            <a:srgbClr val="24503A"/>
          </a:solidFill>
          <a:ln w="1905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18211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โซลูชันที่ตอบโจทย์ตลาดโลก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8444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C3D3C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ตรวจสอบย้อนกลับ GPS 100% + คุณภาพ ISO/STR + Co-Development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24503A"/>
          </a:solidFill>
          <a:ln w="19050">
            <a:solidFill>
              <a:srgbClr val="8B5E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4165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ความได้เปรียบ + แผนใช้เงินที่ชัด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818888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C3D3C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Eco-System (GPS + โรงงานจริง) และเงินทุน ฿15 ล้าน Runway 18–24 เดือน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i="1" dirty="0">
                <a:solidFill>
                  <a:srgbClr val="B08968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ขอบคุณครับ/ค่ะ  –  [Call to action เช่น นัดประชุมครั้งถัดไป / เข้า Data Room]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680960" y="1371600"/>
            <a:ext cx="3977640" cy="4846320"/>
          </a:xfrm>
          <a:prstGeom prst="roundRect">
            <a:avLst>
              <a:gd name="adj" fmla="val 1839"/>
            </a:avLst>
          </a:prstGeom>
          <a:solidFill>
            <a:srgbClr val="1F4631"/>
          </a:solidFill>
          <a:ln w="12700">
            <a:solidFill>
              <a:srgbClr val="1F463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55280" y="1600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[ชื่อ-นามสกุล]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0" y="20116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dirty="0">
                <a:solidFill>
                  <a:srgbClr val="C3D3C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CEO &amp; Co-founder, RubberLink</a:t>
            </a:r>
            <a:endParaRPr lang="en-US" sz="18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660904"/>
            <a:ext cx="256032" cy="256032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83667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[เบอร์โทรศัพท์]</a:t>
            </a:r>
            <a:endParaRPr lang="en-US" sz="19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11810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8366760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[อีเมล]</a:t>
            </a:r>
            <a:endParaRPr lang="en-US" sz="190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3575304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8366760" y="3520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[เว็บไซต์]</a:t>
            </a:r>
            <a:endParaRPr lang="en-US" sz="1900" dirty="0"/>
          </a:p>
        </p:txBody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032504"/>
            <a:ext cx="256032" cy="256032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8366760" y="3977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LINE OA: [ID]</a:t>
            </a:r>
            <a:endParaRPr lang="en-US" sz="1900" dirty="0"/>
          </a:p>
        </p:txBody>
      </p:sp>
      <p:sp>
        <p:nvSpPr>
          <p:cNvPr id="32" name="Shape 26"/>
          <p:cNvSpPr/>
          <p:nvPr/>
        </p:nvSpPr>
        <p:spPr>
          <a:xfrm>
            <a:off x="8823960" y="4526280"/>
            <a:ext cx="1463040" cy="1463040"/>
          </a:xfrm>
          <a:prstGeom prst="roundRect">
            <a:avLst>
              <a:gd name="adj" fmla="val 5000"/>
            </a:avLst>
          </a:prstGeom>
          <a:solidFill>
            <a:srgbClr val="2A5540"/>
          </a:solidFill>
          <a:ln w="15875">
            <a:solidFill>
              <a:srgbClr val="87998C"/>
            </a:solidFill>
            <a:prstDash val="dash"/>
          </a:ln>
        </p:spPr>
      </p:sp>
      <p:sp>
        <p:nvSpPr>
          <p:cNvPr id="33" name="Text 27"/>
          <p:cNvSpPr txBox="1"/>
          <p:nvPr/>
        </p:nvSpPr>
        <p:spPr>
          <a:xfrm>
            <a:off x="8823960" y="452628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C3D3C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QR Code</a:t>
            </a:r>
            <a:endParaRPr lang="en-US" sz="15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500" dirty="0">
                <a:solidFill>
                  <a:srgbClr val="C3D3C7"/>
                </a:solidFill>
                <a:latin typeface="TH Sarabun New" pitchFamily="34" charset="0"/>
                <a:ea typeface="TH Sarabun New" pitchFamily="34" charset="-122"/>
                <a:cs typeface="TH Sarabun New" pitchFamily="34" charset="-120"/>
              </a:rPr>
              <a:t>(Data Room)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itch Deck 12">
  <a:themeElements>
    <a:clrScheme name="Pitch Deck 12">
      <a:dk1>
        <a:srgbClr val="1A3C2A"/>
      </a:dk1>
      <a:lt1>
        <a:srgbClr val="FFFFFF"/>
      </a:lt1>
      <a:dk2>
        <a:srgbClr val="24503A"/>
      </a:dk2>
      <a:lt2>
        <a:srgbClr val="F0F8F0"/>
      </a:lt2>
      <a:accent1>
        <a:srgbClr val="2F7D4A"/>
      </a:accent1>
      <a:accent2>
        <a:srgbClr val="3E9B63"/>
      </a:accent2>
      <a:accent3>
        <a:srgbClr val="76C782"/>
      </a:accent3>
      <a:accent4>
        <a:srgbClr val="8B6B4F"/>
      </a:accent4>
      <a:accent5>
        <a:srgbClr val="8B5E3C"/>
      </a:accent5>
      <a:accent6>
        <a:srgbClr val="5C4033"/>
      </a:accent6>
      <a:hlink>
        <a:srgbClr val="76C782"/>
      </a:hlink>
      <a:folHlink>
        <a:srgbClr val="2F7D4A"/>
      </a:folHlink>
    </a:clrScheme>
    <a:fontScheme name="Pitch Deck 12">
      <a:majorFont>
        <a:latin typeface="TH Sarabun New"/>
        <a:ea typeface=""/>
        <a:cs typeface="TH Sarabun New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TH Sarabu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H Sarabun New"/>
        <a:ea typeface=""/>
        <a:cs typeface="TH Sarabun New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TH Sarabun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 Template (12 Slides)</dc:title>
  <dc:subject>PptxGenJS Presentation</dc:subject>
  <dc:creator>TTT Brother Co., Ltd.</dc:creator>
  <cp:lastModifiedBy>TTT Brother Co., Ltd.</cp:lastModifiedBy>
  <cp:revision>1</cp:revision>
  <dcterms:created xsi:type="dcterms:W3CDTF">2026-10-05T09:11:41Z</dcterms:created>
  <dcterms:modified xsi:type="dcterms:W3CDTF">2026-10-05T09:11:41Z</dcterms:modified>
</cp:coreProperties>
</file>